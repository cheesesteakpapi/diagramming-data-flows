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67"/>
    <p:restoredTop sz="94610"/>
  </p:normalViewPr>
  <p:slideViewPr>
    <p:cSldViewPr snapToGrid="0" snapToObjects="1">
      <p:cViewPr varScale="1">
        <p:scale>
          <a:sx n="155" d="100"/>
          <a:sy n="155" d="100"/>
        </p:scale>
        <p:origin x="192" y="4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53819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109728"/>
            <a:ext cx="320040" cy="18288"/>
          </a:xfrm>
          <a:prstGeom prst="rect">
            <a:avLst/>
          </a:prstGeom>
          <a:solidFill>
            <a:srgbClr val="1B7BA4"/>
          </a:solidFill>
          <a:ln w="12700">
            <a:solidFill>
              <a:srgbClr val="1B7B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64592" y="109728"/>
            <a:ext cx="18288" cy="320040"/>
          </a:xfrm>
          <a:prstGeom prst="rect">
            <a:avLst/>
          </a:prstGeom>
          <a:solidFill>
            <a:srgbClr val="1B7BA4"/>
          </a:solidFill>
          <a:ln w="12700">
            <a:solidFill>
              <a:srgbClr val="1B7B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659368" y="109728"/>
            <a:ext cx="320040" cy="18288"/>
          </a:xfrm>
          <a:prstGeom prst="rect">
            <a:avLst/>
          </a:prstGeom>
          <a:solidFill>
            <a:srgbClr val="1B7BA4"/>
          </a:solidFill>
          <a:ln w="12700">
            <a:solidFill>
              <a:srgbClr val="1B7B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59368" y="109728"/>
            <a:ext cx="18288" cy="320040"/>
          </a:xfrm>
          <a:prstGeom prst="rect">
            <a:avLst/>
          </a:prstGeom>
          <a:solidFill>
            <a:srgbClr val="1B7BA4"/>
          </a:solidFill>
          <a:ln w="12700">
            <a:solidFill>
              <a:srgbClr val="1B7B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64592" y="4713732"/>
            <a:ext cx="320040" cy="18288"/>
          </a:xfrm>
          <a:prstGeom prst="rect">
            <a:avLst/>
          </a:prstGeom>
          <a:solidFill>
            <a:srgbClr val="1B7BA4"/>
          </a:solidFill>
          <a:ln w="12700">
            <a:solidFill>
              <a:srgbClr val="1B7B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64592" y="4713732"/>
            <a:ext cx="18288" cy="320040"/>
          </a:xfrm>
          <a:prstGeom prst="rect">
            <a:avLst/>
          </a:prstGeom>
          <a:solidFill>
            <a:srgbClr val="1B7BA4"/>
          </a:solidFill>
          <a:ln w="12700">
            <a:solidFill>
              <a:srgbClr val="1B7B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659368" y="4713732"/>
            <a:ext cx="320040" cy="18288"/>
          </a:xfrm>
          <a:prstGeom prst="rect">
            <a:avLst/>
          </a:prstGeom>
          <a:solidFill>
            <a:srgbClr val="1B7BA4"/>
          </a:solidFill>
          <a:ln w="12700">
            <a:solidFill>
              <a:srgbClr val="1B7B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659368" y="4713732"/>
            <a:ext cx="18288" cy="320040"/>
          </a:xfrm>
          <a:prstGeom prst="rect">
            <a:avLst/>
          </a:prstGeom>
          <a:solidFill>
            <a:srgbClr val="1B7BA4"/>
          </a:solidFill>
          <a:ln w="12700">
            <a:solidFill>
              <a:srgbClr val="1B7B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635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0" y="1572768"/>
            <a:ext cx="9144000" cy="0"/>
          </a:xfrm>
          <a:prstGeom prst="line">
            <a:avLst/>
          </a:prstGeom>
          <a:noFill/>
          <a:ln w="635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0" y="2322576"/>
            <a:ext cx="9144000" cy="0"/>
          </a:xfrm>
          <a:prstGeom prst="line">
            <a:avLst/>
          </a:prstGeom>
          <a:noFill/>
          <a:ln w="635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0" y="3072384"/>
            <a:ext cx="9144000" cy="0"/>
          </a:xfrm>
          <a:prstGeom prst="line">
            <a:avLst/>
          </a:prstGeom>
          <a:noFill/>
          <a:ln w="635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0" y="3822192"/>
            <a:ext cx="9144000" cy="0"/>
          </a:xfrm>
          <a:prstGeom prst="line">
            <a:avLst/>
          </a:prstGeom>
          <a:noFill/>
          <a:ln w="635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635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995D43DF-95A4-FF0D-5D9F-A93C872FBEF1}"/>
              </a:ext>
            </a:extLst>
          </p:cNvPr>
          <p:cNvGrpSpPr/>
          <p:nvPr/>
        </p:nvGrpSpPr>
        <p:grpSpPr>
          <a:xfrm>
            <a:off x="3108960" y="256032"/>
            <a:ext cx="2926080" cy="282158"/>
            <a:chOff x="3108960" y="256032"/>
            <a:chExt cx="2926080" cy="282158"/>
          </a:xfrm>
        </p:grpSpPr>
        <p:sp>
          <p:nvSpPr>
            <p:cNvPr id="16" name="Shape 14"/>
            <p:cNvSpPr/>
            <p:nvPr/>
          </p:nvSpPr>
          <p:spPr>
            <a:xfrm>
              <a:off x="3108960" y="282158"/>
              <a:ext cx="2926080" cy="256032"/>
            </a:xfrm>
            <a:prstGeom prst="rect">
              <a:avLst/>
            </a:prstGeom>
            <a:solidFill>
              <a:srgbClr val="1E3A5F"/>
            </a:solidFill>
            <a:ln w="12700">
              <a:solidFill>
                <a:srgbClr val="1B7BA4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 15"/>
            <p:cNvSpPr/>
            <p:nvPr/>
          </p:nvSpPr>
          <p:spPr>
            <a:xfrm>
              <a:off x="3108960" y="256032"/>
              <a:ext cx="29260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00" b="1" dirty="0">
                  <a:solidFill>
                    <a:srgbClr val="B8D4E8"/>
                  </a:solidFill>
                </a:rPr>
                <a:t>PRE-DECISIONAL // LAW ENFORCEMENT SENSITIVE</a:t>
              </a:r>
              <a:endParaRPr lang="en-US" sz="700" dirty="0"/>
            </a:p>
          </p:txBody>
        </p:sp>
      </p:grpSp>
      <p:sp>
        <p:nvSpPr>
          <p:cNvPr id="18" name="Text 16"/>
          <p:cNvSpPr/>
          <p:nvPr/>
        </p:nvSpPr>
        <p:spPr>
          <a:xfrm>
            <a:off x="548640" y="1005840"/>
            <a:ext cx="8046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kern="0" spc="200" dirty="0">
                <a:solidFill>
                  <a:srgbClr val="F0F4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ICE ALPR</a:t>
            </a:r>
            <a:endParaRPr lang="en-US" sz="4400" dirty="0"/>
          </a:p>
          <a:p>
            <a:pPr algn="ctr"/>
            <a:r>
              <a:rPr lang="en-US" sz="4400" b="1" dirty="0">
                <a:solidFill>
                  <a:srgbClr val="B8D4E8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Acquisition &amp; ATO Analysis</a:t>
            </a:r>
            <a:endParaRPr lang="en-US" sz="4400" b="1" dirty="0">
              <a:latin typeface="Georgia" panose="02040502050405020303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1645920" y="2944368"/>
            <a:ext cx="5852160" cy="36576"/>
          </a:xfrm>
          <a:prstGeom prst="rect">
            <a:avLst/>
          </a:prstGeom>
          <a:solidFill>
            <a:srgbClr val="1B7BA4"/>
          </a:solidFill>
          <a:ln w="12700">
            <a:solidFill>
              <a:srgbClr val="1B7B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48640" y="3035808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 Automated License Plate Reader Motorola/TRSS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Briefing </a:t>
            </a:r>
            <a:endParaRPr lang="en-US" sz="1400" dirty="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60F698F4-3E18-04B5-7DD9-50834883350B}"/>
              </a:ext>
            </a:extLst>
          </p:cNvPr>
          <p:cNvGrpSpPr/>
          <p:nvPr/>
        </p:nvGrpSpPr>
        <p:grpSpPr>
          <a:xfrm>
            <a:off x="571500" y="4102720"/>
            <a:ext cx="2286000" cy="256032"/>
            <a:chOff x="158061" y="3835911"/>
            <a:chExt cx="2286000" cy="256032"/>
          </a:xfrm>
        </p:grpSpPr>
        <p:sp>
          <p:nvSpPr>
            <p:cNvPr id="21" name="Shape 19"/>
            <p:cNvSpPr/>
            <p:nvPr/>
          </p:nvSpPr>
          <p:spPr>
            <a:xfrm>
              <a:off x="158061" y="3835911"/>
              <a:ext cx="2286000" cy="256032"/>
            </a:xfrm>
            <a:prstGeom prst="rect">
              <a:avLst/>
            </a:prstGeom>
            <a:solidFill>
              <a:srgbClr val="1E3A5F"/>
            </a:solidFill>
            <a:ln w="12700">
              <a:solidFill>
                <a:srgbClr val="4FA3C7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25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 20"/>
            <p:cNvSpPr/>
            <p:nvPr/>
          </p:nvSpPr>
          <p:spPr>
            <a:xfrm>
              <a:off x="158061" y="3835911"/>
              <a:ext cx="22860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4FA3C7"/>
                  </a:solidFill>
                </a:rPr>
                <a:t>CONTRACT EXPIRATION: MAY 31, 2026</a:t>
              </a:r>
              <a:endParaRPr lang="en-US" sz="800" dirty="0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8B002E15-76D5-0797-2FAD-8EFFED7F477D}"/>
              </a:ext>
            </a:extLst>
          </p:cNvPr>
          <p:cNvGrpSpPr/>
          <p:nvPr/>
        </p:nvGrpSpPr>
        <p:grpSpPr>
          <a:xfrm>
            <a:off x="6286500" y="4102720"/>
            <a:ext cx="2286000" cy="256032"/>
            <a:chOff x="6309360" y="3796501"/>
            <a:chExt cx="2286000" cy="256032"/>
          </a:xfrm>
        </p:grpSpPr>
        <p:sp>
          <p:nvSpPr>
            <p:cNvPr id="23" name="Shape 21"/>
            <p:cNvSpPr/>
            <p:nvPr/>
          </p:nvSpPr>
          <p:spPr>
            <a:xfrm>
              <a:off x="6309360" y="3796501"/>
              <a:ext cx="2286000" cy="256032"/>
            </a:xfrm>
            <a:prstGeom prst="rect">
              <a:avLst/>
            </a:prstGeom>
            <a:solidFill>
              <a:srgbClr val="1E3A5F"/>
            </a:solidFill>
            <a:ln w="12700">
              <a:solidFill>
                <a:srgbClr val="4FA3C7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25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 22"/>
            <p:cNvSpPr/>
            <p:nvPr/>
          </p:nvSpPr>
          <p:spPr>
            <a:xfrm>
              <a:off x="6309360" y="3796501"/>
              <a:ext cx="22860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4FA3C7"/>
                  </a:solidFill>
                </a:rPr>
                <a:t>CONTRACT VAUE: $22,786,103.76</a:t>
              </a:r>
              <a:endParaRPr lang="en-US" sz="800" dirty="0"/>
            </a:p>
          </p:txBody>
        </p:sp>
      </p:grpSp>
      <p:sp>
        <p:nvSpPr>
          <p:cNvPr id="25" name="Text 23"/>
          <p:cNvSpPr/>
          <p:nvPr/>
        </p:nvSpPr>
        <p:spPr>
          <a:xfrm>
            <a:off x="548640" y="4736592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BA3BC"/>
                </a:solidFill>
              </a:rPr>
              <a:t>OCIO/SDD IT PM: Tamar Knighton  |  March 2026</a:t>
            </a:r>
            <a:endParaRPr lang="en-US" sz="900" dirty="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C260E157-264B-28E1-45D8-3B86F01C9392}"/>
              </a:ext>
            </a:extLst>
          </p:cNvPr>
          <p:cNvGrpSpPr/>
          <p:nvPr/>
        </p:nvGrpSpPr>
        <p:grpSpPr>
          <a:xfrm>
            <a:off x="3429000" y="4102720"/>
            <a:ext cx="2286000" cy="256032"/>
            <a:chOff x="6309360" y="3796501"/>
            <a:chExt cx="2286000" cy="256032"/>
          </a:xfrm>
        </p:grpSpPr>
        <p:sp>
          <p:nvSpPr>
            <p:cNvPr id="34" name="Shape 21">
              <a:extLst>
                <a:ext uri="{FF2B5EF4-FFF2-40B4-BE49-F238E27FC236}">
                  <a16:creationId xmlns:a16="http://schemas.microsoft.com/office/drawing/2014/main" id="{01E1DC64-E341-15A2-612D-217AF1E91DCC}"/>
                </a:ext>
              </a:extLst>
            </p:cNvPr>
            <p:cNvSpPr/>
            <p:nvPr/>
          </p:nvSpPr>
          <p:spPr>
            <a:xfrm>
              <a:off x="6309360" y="3796501"/>
              <a:ext cx="2286000" cy="256032"/>
            </a:xfrm>
            <a:prstGeom prst="rect">
              <a:avLst/>
            </a:prstGeom>
            <a:solidFill>
              <a:srgbClr val="1E3A5F"/>
            </a:solidFill>
            <a:ln w="12700">
              <a:solidFill>
                <a:srgbClr val="4FA3C7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25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Text 22">
              <a:extLst>
                <a:ext uri="{FF2B5EF4-FFF2-40B4-BE49-F238E27FC236}">
                  <a16:creationId xmlns:a16="http://schemas.microsoft.com/office/drawing/2014/main" id="{C6294AD9-50DD-F167-2568-7EA81DD41675}"/>
                </a:ext>
              </a:extLst>
            </p:cNvPr>
            <p:cNvSpPr/>
            <p:nvPr/>
          </p:nvSpPr>
          <p:spPr>
            <a:xfrm>
              <a:off x="6309360" y="3796501"/>
              <a:ext cx="22860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4FA3C7"/>
                  </a:solidFill>
                </a:rPr>
                <a:t>CONTRACT: 70CMSD21C00000002</a:t>
              </a:r>
              <a:endParaRPr lang="en-US" sz="800" dirty="0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7BA4"/>
          </a:solidFill>
          <a:ln w="12700">
            <a:solidFill>
              <a:srgbClr val="1B7B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20040" y="182880"/>
            <a:ext cx="2194560" cy="21945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18288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B8D4E8"/>
                </a:solidFill>
              </a:rPr>
              <a:t>MISSION CONTEXT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ALPR is Mission Critical Infrastructure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1298448"/>
            <a:ext cx="8503920" cy="0"/>
          </a:xfrm>
          <a:prstGeom prst="line">
            <a:avLst/>
          </a:prstGeom>
          <a:noFill/>
          <a:ln w="19050">
            <a:solidFill>
              <a:srgbClr val="1B7B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56032" y="1463040"/>
            <a:ext cx="2011680" cy="3108960"/>
          </a:xfrm>
          <a:prstGeom prst="rect">
            <a:avLst/>
          </a:prstGeom>
          <a:solidFill>
            <a:srgbClr val="122347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56032" y="1463040"/>
            <a:ext cx="2011680" cy="54864"/>
          </a:xfrm>
          <a:prstGeom prst="rect">
            <a:avLst/>
          </a:prstGeom>
          <a:solidFill>
            <a:srgbClr val="1B7BA4"/>
          </a:solidFill>
          <a:ln w="12700">
            <a:solidFill>
              <a:srgbClr val="1B7B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1645920"/>
            <a:ext cx="179222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TRACKING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8912" y="2359152"/>
            <a:ext cx="164592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5760" y="2468880"/>
            <a:ext cx="1792224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Associates vehicles with persons of interest across jurisdictions and time ranges using commercial sighting networks.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432304" y="1463040"/>
            <a:ext cx="2011680" cy="3108960"/>
          </a:xfrm>
          <a:prstGeom prst="rect">
            <a:avLst/>
          </a:prstGeom>
          <a:solidFill>
            <a:srgbClr val="122347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432304" y="1463040"/>
            <a:ext cx="2011680" cy="54864"/>
          </a:xfrm>
          <a:prstGeom prst="rect">
            <a:avLst/>
          </a:prstGeom>
          <a:solidFill>
            <a:srgbClr val="1B7BA4"/>
          </a:solidFill>
          <a:ln w="12700">
            <a:solidFill>
              <a:srgbClr val="1B7B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542032" y="1645920"/>
            <a:ext cx="179222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PATTERN-OF-LIFE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615184" y="2359152"/>
            <a:ext cx="164592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542032" y="2468880"/>
            <a:ext cx="1792224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Reconstructs historical movement using datasets spanning millions of observations to identify behavioral patterns.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08576" y="1463040"/>
            <a:ext cx="2011680" cy="3108960"/>
          </a:xfrm>
          <a:prstGeom prst="rect">
            <a:avLst/>
          </a:prstGeom>
          <a:solidFill>
            <a:srgbClr val="122347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608576" y="1463040"/>
            <a:ext cx="2011680" cy="54864"/>
          </a:xfrm>
          <a:prstGeom prst="rect">
            <a:avLst/>
          </a:prstGeom>
          <a:solidFill>
            <a:srgbClr val="1B7BA4"/>
          </a:solidFill>
          <a:ln w="12700">
            <a:solidFill>
              <a:srgbClr val="1B7B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718304" y="1645920"/>
            <a:ext cx="179222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INVESTIGATIVE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CORROBORATION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91456" y="2359152"/>
            <a:ext cx="164592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718304" y="2468880"/>
            <a:ext cx="1792224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witness accounts, alibis, and surveillance data with independent, timestamped vehicle location records.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784848" y="1463040"/>
            <a:ext cx="2011680" cy="3108960"/>
          </a:xfrm>
          <a:prstGeom prst="rect">
            <a:avLst/>
          </a:prstGeom>
          <a:solidFill>
            <a:srgbClr val="122347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784848" y="1463040"/>
            <a:ext cx="2011680" cy="54864"/>
          </a:xfrm>
          <a:prstGeom prst="rect">
            <a:avLst/>
          </a:prstGeom>
          <a:solidFill>
            <a:srgbClr val="1B7BA4"/>
          </a:solidFill>
          <a:ln w="12700">
            <a:solidFill>
              <a:srgbClr val="1B7B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894576" y="1645920"/>
            <a:ext cx="179222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ALERTING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967728" y="2359152"/>
            <a:ext cx="164592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894576" y="2468880"/>
            <a:ext cx="1792224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 immediate notifications when watchlisted plates appear at sensor locations during field operations.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56032" y="4681728"/>
            <a:ext cx="8631936" cy="292608"/>
          </a:xfrm>
          <a:prstGeom prst="rect">
            <a:avLst/>
          </a:prstGeom>
          <a:solidFill>
            <a:srgbClr val="1B7BA4"/>
          </a:solidFill>
          <a:ln w="12700">
            <a:solidFill>
              <a:srgbClr val="1B7B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56032" y="4681728"/>
            <a:ext cx="8631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0F4F8"/>
                </a:solidFill>
              </a:rPr>
              <a:t>Loss of ALPR capability without a replacement creates immediate operational gaps in active investigations across HSI and ERO.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7BA4"/>
          </a:solidFill>
          <a:ln w="12700">
            <a:solidFill>
              <a:srgbClr val="1B7B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20040" y="182880"/>
            <a:ext cx="2194560" cy="21945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18288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B8D4E8"/>
                </a:solidFill>
              </a:rPr>
              <a:t>USE CASES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503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0F4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Operational Scenarios Define the Replacement Requirement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320040" y="1143000"/>
            <a:ext cx="8503920" cy="0"/>
          </a:xfrm>
          <a:prstGeom prst="line">
            <a:avLst/>
          </a:prstGeom>
          <a:noFill/>
          <a:ln w="19050">
            <a:solidFill>
              <a:srgbClr val="1B7B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56032" y="1298448"/>
            <a:ext cx="4224528" cy="1591056"/>
          </a:xfrm>
          <a:prstGeom prst="rect">
            <a:avLst/>
          </a:prstGeom>
          <a:solidFill>
            <a:srgbClr val="122347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56032" y="1298448"/>
            <a:ext cx="54864" cy="1591056"/>
          </a:xfrm>
          <a:prstGeom prst="rect">
            <a:avLst/>
          </a:prstGeom>
          <a:solidFill>
            <a:srgbClr val="1B7BA4"/>
          </a:solidFill>
          <a:ln w="12700">
            <a:solidFill>
              <a:srgbClr val="1B7B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20624" y="1408176"/>
            <a:ext cx="39684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TARGET APPREHENSION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0624" y="1773936"/>
            <a:ext cx="3968496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Investigators query commercial ALPR databases for recent sightings of vehicles linked to wanted subjects. Narrows geographic search areas from national to neighborhood scale.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1298448"/>
            <a:ext cx="4224528" cy="1591056"/>
          </a:xfrm>
          <a:prstGeom prst="rect">
            <a:avLst/>
          </a:prstGeom>
          <a:solidFill>
            <a:srgbClr val="122347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663440" y="1298448"/>
            <a:ext cx="54864" cy="1591056"/>
          </a:xfrm>
          <a:prstGeom prst="rect">
            <a:avLst/>
          </a:prstGeom>
          <a:solidFill>
            <a:srgbClr val="4FA3C7"/>
          </a:solidFill>
          <a:ln w="12700">
            <a:solidFill>
              <a:srgbClr val="4FA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28032" y="1408176"/>
            <a:ext cx="39684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MOBILE SCANNING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28032" y="1773936"/>
            <a:ext cx="3968496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use government-issued mobile devices with the Mobile Companion app to scan plates in the field. Images and metadata are returned from the vendor recognition engine in real time.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56032" y="3035808"/>
            <a:ext cx="4224528" cy="1591056"/>
          </a:xfrm>
          <a:prstGeom prst="rect">
            <a:avLst/>
          </a:prstGeom>
          <a:solidFill>
            <a:srgbClr val="122347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56032" y="3035808"/>
            <a:ext cx="54864" cy="1591056"/>
          </a:xfrm>
          <a:prstGeom prst="rect">
            <a:avLst/>
          </a:prstGeom>
          <a:solidFill>
            <a:srgbClr val="1B7BA4"/>
          </a:solidFill>
          <a:ln w="12700">
            <a:solidFill>
              <a:srgbClr val="1B7B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20624" y="3145536"/>
            <a:ext cx="39684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MAPPING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20624" y="3511296"/>
            <a:ext cx="3968496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Cross-reference vehicle sightings to identify co-traveler associations, meeting locations, and organizational structures within criminal or national security target networks.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3035808"/>
            <a:ext cx="4224528" cy="1591056"/>
          </a:xfrm>
          <a:prstGeom prst="rect">
            <a:avLst/>
          </a:prstGeom>
          <a:solidFill>
            <a:srgbClr val="122347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663440" y="3035808"/>
            <a:ext cx="54864" cy="1591056"/>
          </a:xfrm>
          <a:prstGeom prst="rect">
            <a:avLst/>
          </a:prstGeom>
          <a:solidFill>
            <a:srgbClr val="4FA3C7"/>
          </a:solidFill>
          <a:ln w="12700">
            <a:solidFill>
              <a:srgbClr val="4FA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28032" y="3145536"/>
            <a:ext cx="39684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EVIDENTIARY SUPPORT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28032" y="3511296"/>
            <a:ext cx="3968496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timestamped plate reads and vehicle imagery to support prosecutorial evidence packages. Data chain-of-custody is a critical compliance requirement for admissibility.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56032" y="4736592"/>
            <a:ext cx="8631936" cy="2560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56032" y="4736592"/>
            <a:ext cx="8631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B8D4E8"/>
                </a:solidFill>
              </a:rPr>
              <a:t>The mobile scan use case is the trigger for data custody and compliance obligations - it converts queries into federal records.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7BA4"/>
          </a:solidFill>
          <a:ln w="12700">
            <a:solidFill>
              <a:srgbClr val="1B7B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20040" y="182880"/>
            <a:ext cx="2194560" cy="21945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18288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B8D4E8"/>
                </a:solidFill>
              </a:rPr>
              <a:t>CURRENT ENVIRONMENT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Incumbent Platform Expanded Beyond Original Authorized Scope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8503920" cy="0"/>
          </a:xfrm>
          <a:prstGeom prst="line">
            <a:avLst/>
          </a:prstGeom>
          <a:noFill/>
          <a:ln w="19050">
            <a:solidFill>
              <a:srgbClr val="1B7B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92608" y="1207008"/>
          <a:ext cx="4160520" cy="2432304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CONTRACT PARAMETER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Award Value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$22,786,103.76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Funds Obligated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$22,786,103.76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Funds Outlayed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$13,837,728.21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 4 Cost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$4,865,711.76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Contract End Date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31, 2026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FAR 52.217-8 Extension Rate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~$405,475.98/month (max 6 mo.)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663440" y="1207008"/>
            <a:ext cx="4206240" cy="329184"/>
          </a:xfrm>
          <a:prstGeom prst="rect">
            <a:avLst/>
          </a:prstGeom>
          <a:solidFill>
            <a:srgbClr val="122347"/>
          </a:solidFill>
          <a:ln w="12700">
            <a:solidFill>
              <a:srgbClr val="1223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663440" y="1207008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0F4F8"/>
                </a:solidFill>
              </a:rPr>
              <a:t>SCOPE EVOLUTION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663440" y="1609344"/>
            <a:ext cx="4206240" cy="1389888"/>
          </a:xfrm>
          <a:prstGeom prst="rect">
            <a:avLst/>
          </a:prstGeom>
          <a:solidFill>
            <a:srgbClr val="F8FAFC"/>
          </a:solidFill>
          <a:ln w="19050">
            <a:solidFill>
              <a:srgbClr val="1A7A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663440" y="1609344"/>
            <a:ext cx="4206240" cy="256032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754880" y="160934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ORIGINAL SCOPE (Authorized)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4773168" y="1901952"/>
            <a:ext cx="3986784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plate queries against commercial ALPR dataset</a:t>
            </a:r>
            <a:endParaRPr lang="en-US" sz="9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portal query interface only</a:t>
            </a:r>
            <a:endParaRPr lang="en-US" sz="9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image capture - no federal records created</a:t>
            </a:r>
            <a:endParaRPr lang="en-US" sz="9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PIA-039 originally written for this model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663440" y="3108960"/>
            <a:ext cx="4206240" cy="1389888"/>
          </a:xfrm>
          <a:prstGeom prst="rect">
            <a:avLst/>
          </a:prstGeom>
          <a:solidFill>
            <a:srgbClr val="F8FAFC"/>
          </a:solidFill>
          <a:ln w="1905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4663440" y="3108960"/>
            <a:ext cx="4206240" cy="2560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754880" y="310896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EXPANDED SCOPE (Operational Today)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4773168" y="3401568"/>
            <a:ext cx="3986784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Companion app on GFE devices</a:t>
            </a:r>
            <a:endParaRPr lang="en-US" sz="9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plate scanning + vehicle image capture</a:t>
            </a:r>
            <a:endParaRPr lang="en-US" sz="9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Agency-generated images uploaded to vendor cloud</a:t>
            </a:r>
            <a:endParaRPr lang="en-US" sz="9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Federal investigative records created outside boundary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292608" y="4535424"/>
            <a:ext cx="8558784" cy="384048"/>
          </a:xfrm>
          <a:prstGeom prst="rect">
            <a:avLst/>
          </a:prstGeom>
          <a:solidFill>
            <a:srgbClr val="FFF3CD"/>
          </a:solidFill>
          <a:ln w="19050">
            <a:solidFill>
              <a:srgbClr val="D483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329184" y="4535424"/>
            <a:ext cx="8485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A4F00"/>
                </a:solidFill>
              </a:rPr>
              <a:t>⚠  Scope expansion was not accompanied by a reassessment of the cybersecurity authorization boundary or PIA update. This gap drives the compliance risk.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7BA4"/>
          </a:solidFill>
          <a:ln w="12700">
            <a:solidFill>
              <a:srgbClr val="1B7B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20040" y="182880"/>
            <a:ext cx="2194560" cy="21945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18288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B8D4E8"/>
                </a:solidFill>
              </a:rPr>
              <a:t>ARCHITECTURE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0F4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Current Architecture: Federal Records Reside Outside the Authorization Boundary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8503920" cy="0"/>
          </a:xfrm>
          <a:prstGeom prst="line">
            <a:avLst/>
          </a:prstGeom>
          <a:noFill/>
          <a:ln w="19050">
            <a:solidFill>
              <a:srgbClr val="1B7B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56032" y="1188720"/>
            <a:ext cx="5669280" cy="2487168"/>
          </a:xfrm>
          <a:prstGeom prst="rect">
            <a:avLst/>
          </a:prstGeom>
          <a:solidFill>
            <a:srgbClr val="1A0808"/>
          </a:solidFill>
          <a:ln w="25400">
            <a:solidFill>
              <a:srgbClr val="C0392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56032" y="1188720"/>
            <a:ext cx="5669280" cy="2560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47472" y="11887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OUTSIDE FEDERAL AUTHORIZATION BOUNDARY - COMMERCIAL VENDOR CLOUD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6144768" y="1188720"/>
            <a:ext cx="2743200" cy="2487168"/>
          </a:xfrm>
          <a:prstGeom prst="rect">
            <a:avLst/>
          </a:prstGeom>
          <a:solidFill>
            <a:srgbClr val="0A1E12"/>
          </a:solidFill>
          <a:ln w="254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144768" y="1188720"/>
            <a:ext cx="2743200" cy="256032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236208" y="11887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INSIDE FEDERAL BOUNDARY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475488" y="1572768"/>
            <a:ext cx="1572768" cy="2029968"/>
          </a:xfrm>
          <a:prstGeom prst="rect">
            <a:avLst/>
          </a:prstGeom>
          <a:solidFill>
            <a:srgbClr val="2A1010"/>
          </a:solidFill>
          <a:ln w="12700">
            <a:solidFill>
              <a:srgbClr val="8B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66928" y="1664208"/>
            <a:ext cx="138988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GFE MOBILE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66928" y="2286000"/>
            <a:ext cx="1389888" cy="0"/>
          </a:xfrm>
          <a:prstGeom prst="line">
            <a:avLst/>
          </a:prstGeom>
          <a:noFill/>
          <a:ln w="6350">
            <a:solidFill>
              <a:srgbClr val="8B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66928" y="2377440"/>
            <a:ext cx="1389888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Plates scanned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officer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GFE device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258568" y="1572768"/>
            <a:ext cx="1572768" cy="2029968"/>
          </a:xfrm>
          <a:prstGeom prst="rect">
            <a:avLst/>
          </a:prstGeom>
          <a:solidFill>
            <a:srgbClr val="2A1010"/>
          </a:solidFill>
          <a:ln w="12700">
            <a:solidFill>
              <a:srgbClr val="8B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350008" y="1664208"/>
            <a:ext cx="138988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350008" y="2286000"/>
            <a:ext cx="1389888" cy="0"/>
          </a:xfrm>
          <a:prstGeom prst="line">
            <a:avLst/>
          </a:prstGeom>
          <a:noFill/>
          <a:ln w="6350">
            <a:solidFill>
              <a:srgbClr val="8B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350008" y="2377440"/>
            <a:ext cx="1389888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cloud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&amp;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imagery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041648" y="1572768"/>
            <a:ext cx="1572768" cy="2029968"/>
          </a:xfrm>
          <a:prstGeom prst="rect">
            <a:avLst/>
          </a:prstGeom>
          <a:solidFill>
            <a:srgbClr val="2A1010"/>
          </a:solidFill>
          <a:ln w="12700">
            <a:solidFill>
              <a:srgbClr val="8B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133088" y="1664208"/>
            <a:ext cx="138988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 IMAGE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133088" y="2286000"/>
            <a:ext cx="1389888" cy="0"/>
          </a:xfrm>
          <a:prstGeom prst="line">
            <a:avLst/>
          </a:prstGeom>
          <a:noFill/>
          <a:ln w="6350">
            <a:solidFill>
              <a:srgbClr val="8B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133088" y="2377440"/>
            <a:ext cx="1389888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ICE-generated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stored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vendor cloud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048256" y="2587752"/>
            <a:ext cx="210312" cy="0"/>
          </a:xfrm>
          <a:prstGeom prst="line">
            <a:avLst/>
          </a:prstGeom>
          <a:noFill/>
          <a:ln w="254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831336" y="2587752"/>
            <a:ext cx="210312" cy="0"/>
          </a:xfrm>
          <a:prstGeom prst="line">
            <a:avLst/>
          </a:prstGeom>
          <a:noFill/>
          <a:ln w="254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254496" y="1572768"/>
            <a:ext cx="2523744" cy="905256"/>
          </a:xfrm>
          <a:prstGeom prst="rect">
            <a:avLst/>
          </a:prstGeom>
          <a:solidFill>
            <a:srgbClr val="0F2A1A"/>
          </a:solidFill>
          <a:ln w="12700">
            <a:solidFill>
              <a:srgbClr val="2E7D5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327648" y="16459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AGENCY INDEX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METADATA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327648" y="2048256"/>
            <a:ext cx="2304288" cy="0"/>
          </a:xfrm>
          <a:prstGeom prst="line">
            <a:avLst/>
          </a:prstGeom>
          <a:noFill/>
          <a:ln w="6350">
            <a:solidFill>
              <a:srgbClr val="2E7D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327648" y="2121408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AA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Investigative refs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AA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in gov cloud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254496" y="2679192"/>
            <a:ext cx="2523744" cy="905256"/>
          </a:xfrm>
          <a:prstGeom prst="rect">
            <a:avLst/>
          </a:prstGeom>
          <a:solidFill>
            <a:srgbClr val="0F2A1A"/>
          </a:solidFill>
          <a:ln w="12700">
            <a:solidFill>
              <a:srgbClr val="2E7D5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327648" y="2752344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AGENCY CASE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327648" y="3154680"/>
            <a:ext cx="2304288" cy="0"/>
          </a:xfrm>
          <a:prstGeom prst="line">
            <a:avLst/>
          </a:prstGeom>
          <a:noFill/>
          <a:ln w="6350">
            <a:solidFill>
              <a:srgbClr val="2E7D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327648" y="3227832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AA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linkage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AA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audit logs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25312" y="2587752"/>
            <a:ext cx="219456" cy="0"/>
          </a:xfrm>
          <a:prstGeom prst="line">
            <a:avLst/>
          </a:prstGeom>
          <a:noFill/>
          <a:ln w="31750">
            <a:solidFill>
              <a:srgbClr val="4FA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010912" y="2112264"/>
            <a:ext cx="658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4FA3C7"/>
                </a:solidFill>
              </a:rPr>
              <a:t>Results /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4FA3C7"/>
                </a:solidFill>
              </a:rPr>
              <a:t>API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256032" y="3858768"/>
            <a:ext cx="8631936" cy="877824"/>
          </a:xfrm>
          <a:prstGeom prst="rect">
            <a:avLst/>
          </a:prstGeom>
          <a:solidFill>
            <a:srgbClr val="1A0E00"/>
          </a:solidFill>
          <a:ln w="25400">
            <a:solidFill>
              <a:srgbClr val="D483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256032" y="3858768"/>
            <a:ext cx="73152" cy="877824"/>
          </a:xfrm>
          <a:prstGeom prst="rect">
            <a:avLst/>
          </a:prstGeom>
          <a:solidFill>
            <a:srgbClr val="D4830A"/>
          </a:solidFill>
          <a:ln w="12700">
            <a:solidFill>
              <a:srgbClr val="D483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02336" y="3877056"/>
            <a:ext cx="84124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48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FINDING:  </a:t>
            </a:r>
            <a:r>
              <a:rPr lang="en-US" sz="95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ICE-generated plate images and vehicle sighting records are created on GFE devices but are immediately transmitted to and stored in the vendor's commercial cloud - outside the ATO boundary. Pre-OCR images become federal investigative records at the moment of capture. This is the primary architectural compliance violation.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20040" y="182880"/>
            <a:ext cx="2194560" cy="21945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18288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B8D4E8"/>
                </a:solidFill>
              </a:rPr>
              <a:t>PROBLEM STATEMENT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Convergent Pressures Require a Leadership Decision Before May 31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8503920" cy="0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92608" y="1207008"/>
            <a:ext cx="8558784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92608" y="1207008"/>
            <a:ext cx="457200" cy="10972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92608" y="1207008"/>
            <a:ext cx="457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12801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EXPIRATION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1591056"/>
            <a:ext cx="78638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option years exercised. Contract terminates May 31, 2026. The FAR 52.217-8 option to extend services (up to 6 months at ~$405,476/month) can bridge operations - but it cannot substitute for a competitive award. A competitive solicitation is required regardless of whether the extension is used. No justification for sole-source continuation exists.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92608" y="2377440"/>
            <a:ext cx="8558784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92608" y="2377440"/>
            <a:ext cx="457200" cy="10972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92608" y="2377440"/>
            <a:ext cx="457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22960" y="245059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SCOPE CREEP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2960" y="2761488"/>
            <a:ext cx="78638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Mobile Companion app expanded the system from a query tool into a data collection platform. Agency personnel now generate federal investigative records (plate images, scan metadata) that are immediately transmitted to and stored in a commercial cloud environment - outside the ATO boundary. This was not the architecture originally authorized.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92608" y="3547872"/>
            <a:ext cx="8558784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92608" y="3547872"/>
            <a:ext cx="457200" cy="10972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92608" y="3547872"/>
            <a:ext cx="457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22960" y="3621024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UNRESOLVED DATA CUSTODY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2960" y="3931920"/>
            <a:ext cx="78638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imagery and investigative metadata stored in vendor commercial cloud creates: (a) unresolved federal records retention obligations, (b) inability to guarantee chain-of-custody for evidentiary use, (c) FISMA/FedRAMP authorization boundary gaps, and (d) PIA-039 compliance exposure as operational use has exceeded original authorization scope.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92608" y="4736592"/>
            <a:ext cx="8558784" cy="25603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92608" y="4736592"/>
            <a:ext cx="8558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8D4E8"/>
                </a:solidFill>
              </a:rPr>
              <a:t>Competitive solicitation is required for any replacement award. All three replacement options also require a temporary ATO for the bridge period.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7BA4"/>
          </a:solidFill>
          <a:ln w="12700">
            <a:solidFill>
              <a:srgbClr val="1B7B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20040" y="182880"/>
            <a:ext cx="2194560" cy="21945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18288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B8D4E8"/>
                </a:solidFill>
              </a:rPr>
              <a:t>CHAPTER 2 OF 5 - COMPLIANCE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0F4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Compliance Gaps Create Compounding Legal and Operational Risk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8503920" cy="0"/>
          </a:xfrm>
          <a:prstGeom prst="line">
            <a:avLst/>
          </a:prstGeom>
          <a:noFill/>
          <a:ln w="19050">
            <a:solidFill>
              <a:srgbClr val="1B7B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56032" y="1243584"/>
            <a:ext cx="4224528" cy="1078992"/>
          </a:xfrm>
          <a:prstGeom prst="rect">
            <a:avLst/>
          </a:prstGeom>
          <a:solidFill>
            <a:srgbClr val="122347"/>
          </a:solidFill>
          <a:ln w="12700">
            <a:solidFill>
              <a:srgbClr val="8B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56032" y="1243584"/>
            <a:ext cx="274320" cy="10789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56032" y="1243584"/>
            <a:ext cx="2743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✕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03504" y="1335024"/>
            <a:ext cx="37856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FedRAMP Authorization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03504" y="1645920"/>
            <a:ext cx="3785616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platform not FedRAMP authorized. No compliant control inheritance available under current architecture.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63440" y="1243584"/>
            <a:ext cx="4224528" cy="1078992"/>
          </a:xfrm>
          <a:prstGeom prst="rect">
            <a:avLst/>
          </a:prstGeom>
          <a:solidFill>
            <a:srgbClr val="122347"/>
          </a:solidFill>
          <a:ln w="12700">
            <a:solidFill>
              <a:srgbClr val="8B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663440" y="1243584"/>
            <a:ext cx="274320" cy="10789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663440" y="1243584"/>
            <a:ext cx="2743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✕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10912" y="1335024"/>
            <a:ext cx="37856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FISMA / ATO Boundary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10912" y="1645920"/>
            <a:ext cx="3785616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does not cover commercial vendor infrastructure. Federal data processed outside authorized boundary.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56032" y="2414016"/>
            <a:ext cx="4224528" cy="1078992"/>
          </a:xfrm>
          <a:prstGeom prst="rect">
            <a:avLst/>
          </a:prstGeom>
          <a:solidFill>
            <a:srgbClr val="122347"/>
          </a:solidFill>
          <a:ln w="12700">
            <a:solidFill>
              <a:srgbClr val="8B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56032" y="2414016"/>
            <a:ext cx="274320" cy="10789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56032" y="2414016"/>
            <a:ext cx="2743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✕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03504" y="2505456"/>
            <a:ext cx="37856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800-53 Controls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03504" y="2816352"/>
            <a:ext cx="3785616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SC-7 (boundary protection), AC-3 (access enforcement), AU-9 (audit protection), MP-6 (media sanitization) - all unverifiable for vendor cloud.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663440" y="2414016"/>
            <a:ext cx="4224528" cy="1078992"/>
          </a:xfrm>
          <a:prstGeom prst="rect">
            <a:avLst/>
          </a:prstGeom>
          <a:solidFill>
            <a:srgbClr val="122347"/>
          </a:solidFill>
          <a:ln w="12700">
            <a:solidFill>
              <a:srgbClr val="8B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663440" y="2414016"/>
            <a:ext cx="274320" cy="10789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663440" y="2414016"/>
            <a:ext cx="2743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✕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010912" y="2505456"/>
            <a:ext cx="37856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Federal Records Retention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10912" y="2816352"/>
            <a:ext cx="3785616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NARA-scheduled retention cannot be enforced when vendor controls deletion timelines. Unscheduled records must be treated as permanent.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56032" y="3584448"/>
            <a:ext cx="4224528" cy="1078992"/>
          </a:xfrm>
          <a:prstGeom prst="rect">
            <a:avLst/>
          </a:prstGeom>
          <a:solidFill>
            <a:srgbClr val="122347"/>
          </a:solidFill>
          <a:ln w="12700">
            <a:solidFill>
              <a:srgbClr val="8B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256032" y="3584448"/>
            <a:ext cx="274320" cy="10789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56032" y="3584448"/>
            <a:ext cx="2743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✕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3504" y="3675888"/>
            <a:ext cx="37856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/ Civil Liberties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03504" y="3986784"/>
            <a:ext cx="3785616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Expanded mobile capture requires PIA-039 update and SORN review. Bulk imagery collection exceeds original authorization scope.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63440" y="3584448"/>
            <a:ext cx="4224528" cy="1078992"/>
          </a:xfrm>
          <a:prstGeom prst="rect">
            <a:avLst/>
          </a:prstGeom>
          <a:solidFill>
            <a:srgbClr val="122347"/>
          </a:solidFill>
          <a:ln w="12700">
            <a:solidFill>
              <a:srgbClr val="8B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663440" y="3584448"/>
            <a:ext cx="274320" cy="10789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663440" y="3584448"/>
            <a:ext cx="2743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✕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010912" y="3675888"/>
            <a:ext cx="37856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Investigative Data Custody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010912" y="3986784"/>
            <a:ext cx="3785616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Chain-of-custody integrity for images stored in commercial cloud may not withstand legal challenge in court proceedings.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56032" y="4736592"/>
            <a:ext cx="8631936" cy="256032"/>
          </a:xfrm>
          <a:prstGeom prst="rect">
            <a:avLst/>
          </a:prstGeom>
          <a:solidFill>
            <a:srgbClr val="2A0A0A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256032" y="4736592"/>
            <a:ext cx="8631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AAAA"/>
                </a:solidFill>
              </a:rPr>
              <a:t>All six gaps persist under Option 1 (status quo). Resolving them requires architectural change - not process adjustment.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7BA4"/>
          </a:solidFill>
          <a:ln w="12700">
            <a:solidFill>
              <a:srgbClr val="1B7B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20040" y="182880"/>
            <a:ext cx="2377440" cy="21945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18288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B8D4E8"/>
                </a:solidFill>
              </a:rPr>
              <a:t>CHAPTER 3 OF 5 - ALTERNATIVES ANALYSIS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Deployment Models - Each Requires a Temporary ATO and Competitive Award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8503920" cy="0"/>
          </a:xfrm>
          <a:prstGeom prst="line">
            <a:avLst/>
          </a:prstGeom>
          <a:noFill/>
          <a:ln w="19050">
            <a:solidFill>
              <a:srgbClr val="1B7B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56032" y="1243584"/>
            <a:ext cx="2761488" cy="3273552"/>
          </a:xfrm>
          <a:prstGeom prst="rect">
            <a:avLst/>
          </a:prstGeom>
          <a:solidFill>
            <a:srgbClr val="122347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56032" y="1243584"/>
            <a:ext cx="2761488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47472" y="1243584"/>
            <a:ext cx="257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1B7BA4"/>
                </a:solidFill>
              </a:rPr>
              <a:t>OPTION 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47472" y="1755648"/>
            <a:ext cx="25786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F4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Commercial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0F4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Vendor Cloud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93192" y="2359152"/>
            <a:ext cx="2487168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65760" y="2432304"/>
            <a:ext cx="254203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Incumbent architecture retained. Vendor manages recognition engine and data storage in commercial cloud.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65760" y="3401568"/>
            <a:ext cx="2542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Fastest continuity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65760" y="3694176"/>
            <a:ext cx="2542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Authorization gaps unresolved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179576" y="4169664"/>
            <a:ext cx="914400" cy="2560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179576" y="416966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00000"/>
                </a:solidFill>
              </a:rPr>
              <a:t>RISK: HIGH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3200400" y="1243584"/>
            <a:ext cx="2761488" cy="3273552"/>
          </a:xfrm>
          <a:prstGeom prst="rect">
            <a:avLst/>
          </a:prstGeom>
          <a:solidFill>
            <a:srgbClr val="122347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200400" y="1243584"/>
            <a:ext cx="2761488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291840" y="1243584"/>
            <a:ext cx="257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1B7BA4"/>
                </a:solidFill>
              </a:rPr>
              <a:t>OPTION 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291840" y="1755648"/>
            <a:ext cx="25786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F4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On-Premises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0F4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Government Deploy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337560" y="2359152"/>
            <a:ext cx="2487168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310128" y="2432304"/>
            <a:ext cx="254203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Agency deploys recognition capability and data storage entirely within government-operated infrastructure.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310128" y="3401568"/>
            <a:ext cx="2542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Full data sovereignty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310128" y="3694176"/>
            <a:ext cx="2542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12-24 months to deploy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123944" y="4169664"/>
            <a:ext cx="914400" cy="25603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123944" y="416966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00000"/>
                </a:solidFill>
              </a:rPr>
              <a:t>RISK: MEDIUM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6144768" y="1243584"/>
            <a:ext cx="2761488" cy="3273552"/>
          </a:xfrm>
          <a:prstGeom prst="rect">
            <a:avLst/>
          </a:prstGeom>
          <a:solidFill>
            <a:srgbClr val="122347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144768" y="1243584"/>
            <a:ext cx="2761488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236208" y="1243584"/>
            <a:ext cx="257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1B7BA4"/>
                </a:solidFill>
              </a:rPr>
              <a:t>OPTION 3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236208" y="1755648"/>
            <a:ext cx="25786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F4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FedRAMP-Authorized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0F4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SaaS Platform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281928" y="2359152"/>
            <a:ext cx="2487168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254496" y="2432304"/>
            <a:ext cx="254203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must offer a FedRAMP High/Moderate native SaaS offering - not a VM in a cloud. Incumbent does not currently offer this.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254496" y="3401568"/>
            <a:ext cx="2542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NIST 800-53 inheritance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254496" y="3694176"/>
            <a:ext cx="2542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Requires new competitive award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7068312" y="4169664"/>
            <a:ext cx="914400" cy="256032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7068312" y="416966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00000"/>
                </a:solidFill>
              </a:rPr>
              <a:t>RISK: LOW-MED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256032" y="4608576"/>
            <a:ext cx="8631936" cy="420624"/>
          </a:xfrm>
          <a:prstGeom prst="rect">
            <a:avLst/>
          </a:prstGeom>
          <a:solidFill>
            <a:srgbClr val="FFF3CD"/>
          </a:solidFill>
          <a:ln w="19050">
            <a:solidFill>
              <a:srgbClr val="D483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29184" y="4608576"/>
            <a:ext cx="84856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7A4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 NOTE:  </a:t>
            </a:r>
            <a:r>
              <a:rPr lang="en-US" sz="850" dirty="0">
                <a:solidFill>
                  <a:srgbClr val="5C3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3 requires a FedRAMP-authorized native SaaS offering from the replacement vendor. A commercial VM deployed in a FedRAMP IaaS/PaaS environment (e.g., AWS GovCloud EC2) is a separate architecture the incumbent does not support. All three options require a competitive solicitation and a temporary ATO for the bridge period.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20040" y="182880"/>
            <a:ext cx="2377440" cy="219456"/>
          </a:xfrm>
          <a:prstGeom prst="rect">
            <a:avLst/>
          </a:prstGeom>
          <a:solidFill>
            <a:srgbClr val="4A1010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18288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AAAA"/>
                </a:solidFill>
              </a:rPr>
              <a:t>OPTION 1 - COMMERCIAL VENDOR CLOUD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0F4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Option 1: Status Quo Provides Continuity But Does Not Resolve Any Compliance Gap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8503920" cy="0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56032" y="1188720"/>
            <a:ext cx="3840480" cy="2194560"/>
          </a:xfrm>
          <a:prstGeom prst="rect">
            <a:avLst/>
          </a:prstGeom>
          <a:solidFill>
            <a:srgbClr val="1A0808"/>
          </a:solidFill>
          <a:ln w="19050">
            <a:solidFill>
              <a:srgbClr val="C0392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56032" y="1188720"/>
            <a:ext cx="3840480" cy="2377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AAAA"/>
                </a:solidFill>
              </a:rPr>
              <a:t>OUTSIDE FEDERAL BOUNDARY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1188720" y="1554480"/>
            <a:ext cx="777240" cy="731520"/>
          </a:xfrm>
          <a:prstGeom prst="rect">
            <a:avLst/>
          </a:prstGeom>
          <a:solidFill>
            <a:srgbClr val="2A1010"/>
          </a:solidFill>
          <a:ln w="12700">
            <a:solidFill>
              <a:srgbClr val="8B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188720" y="1554480"/>
            <a:ext cx="777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0F4F8"/>
                </a:solidFill>
              </a:rPr>
              <a:t>GFE DEVICE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1965960" y="1920240"/>
            <a:ext cx="137160" cy="0"/>
          </a:xfrm>
          <a:prstGeom prst="line">
            <a:avLst/>
          </a:prstGeom>
          <a:noFill/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103120" y="1554480"/>
            <a:ext cx="777240" cy="731520"/>
          </a:xfrm>
          <a:prstGeom prst="rect">
            <a:avLst/>
          </a:prstGeom>
          <a:solidFill>
            <a:srgbClr val="2A1010"/>
          </a:solidFill>
          <a:ln w="12700">
            <a:solidFill>
              <a:srgbClr val="8B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103120" y="1554480"/>
            <a:ext cx="777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0F4F8"/>
                </a:solidFill>
              </a:rPr>
              <a:t>VENDOR ENGINE</a:t>
            </a:r>
            <a:endParaRPr lang="en-US" sz="650" dirty="0"/>
          </a:p>
        </p:txBody>
      </p:sp>
      <p:sp>
        <p:nvSpPr>
          <p:cNvPr id="14" name="Shape 12"/>
          <p:cNvSpPr/>
          <p:nvPr/>
        </p:nvSpPr>
        <p:spPr>
          <a:xfrm>
            <a:off x="2880360" y="1920240"/>
            <a:ext cx="137160" cy="0"/>
          </a:xfrm>
          <a:prstGeom prst="line">
            <a:avLst/>
          </a:prstGeom>
          <a:noFill/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017520" y="1554480"/>
            <a:ext cx="777240" cy="731520"/>
          </a:xfrm>
          <a:prstGeom prst="rect">
            <a:avLst/>
          </a:prstGeom>
          <a:solidFill>
            <a:srgbClr val="2A1010"/>
          </a:solidFill>
          <a:ln w="12700">
            <a:solidFill>
              <a:srgbClr val="8B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017520" y="1554480"/>
            <a:ext cx="777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0F4F8"/>
                </a:solidFill>
              </a:rPr>
              <a:t>IMAGE STORE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4370832" y="1188720"/>
            <a:ext cx="2286000" cy="2194560"/>
          </a:xfrm>
          <a:prstGeom prst="rect">
            <a:avLst/>
          </a:prstGeom>
          <a:solidFill>
            <a:srgbClr val="0A1E12"/>
          </a:solidFill>
          <a:ln w="1905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370832" y="1188720"/>
            <a:ext cx="2286000" cy="2377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AAFFCC"/>
                </a:solidFill>
              </a:rPr>
              <a:t>INSIDE FEDERAL BOUNDARY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4462272" y="1517904"/>
            <a:ext cx="2103120" cy="731520"/>
          </a:xfrm>
          <a:prstGeom prst="rect">
            <a:avLst/>
          </a:prstGeom>
          <a:solidFill>
            <a:srgbClr val="0F2A1A"/>
          </a:solidFill>
          <a:ln w="12700">
            <a:solidFill>
              <a:srgbClr val="2E7D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462272" y="1517904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0F4F8"/>
                </a:solidFill>
              </a:rPr>
              <a:t>AGENCY INDEX</a:t>
            </a:r>
            <a:endParaRPr lang="en-US" sz="700" dirty="0"/>
          </a:p>
          <a:p>
            <a:pPr marL="0" indent="0" algn="ctr">
              <a:buNone/>
            </a:pPr>
            <a:r>
              <a:rPr lang="en-US" sz="700" b="1" dirty="0">
                <a:solidFill>
                  <a:srgbClr val="F0F4F8"/>
                </a:solidFill>
              </a:rPr>
              <a:t>&amp; CASE MGMT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3794760" y="1920240"/>
            <a:ext cx="576072" cy="0"/>
          </a:xfrm>
          <a:prstGeom prst="line">
            <a:avLst/>
          </a:prstGeom>
          <a:noFill/>
          <a:ln w="19050">
            <a:solidFill>
              <a:srgbClr val="4FA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794760" y="178308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FA3C7"/>
                </a:solidFill>
              </a:rPr>
              <a:t>API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256032" y="3547872"/>
            <a:ext cx="4133088" cy="27432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56032" y="3547872"/>
            <a:ext cx="4133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BENEFITS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17720" y="3547872"/>
            <a:ext cx="4133088" cy="274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617720" y="3547872"/>
            <a:ext cx="4133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 RISKS 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56032" y="3822192"/>
            <a:ext cx="4133088" cy="1152144"/>
          </a:xfrm>
          <a:prstGeom prst="rect">
            <a:avLst/>
          </a:prstGeom>
          <a:solidFill>
            <a:srgbClr val="122347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65760" y="3877056"/>
            <a:ext cx="3913632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continuity - no transition disruption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 full commercial ALPR sighting network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path to bridge via FAR 52.217-8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infrastructure investment required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617720" y="3822192"/>
            <a:ext cx="4133088" cy="1152144"/>
          </a:xfrm>
          <a:prstGeom prst="rect">
            <a:avLst/>
          </a:prstGeom>
          <a:solidFill>
            <a:srgbClr val="122347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727448" y="3877056"/>
            <a:ext cx="3913632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six compliance gaps persist - no ATO resolution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Agency-generated records remain in vendor cloud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 -8 extension delays competitive acquisition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and legal risk compounds over time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56032" y="4901184"/>
            <a:ext cx="8631936" cy="14630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256032" y="4901184"/>
            <a:ext cx="86319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Option 1 is acceptable only as a bridge - it is not a long-term solution. Competitive acquisition must proceed in parallel.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7BA4"/>
          </a:solidFill>
          <a:ln w="12700">
            <a:solidFill>
              <a:srgbClr val="1B7B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20040" y="182880"/>
            <a:ext cx="2377440" cy="21945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18288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B8D4E8"/>
                </a:solidFill>
              </a:rPr>
              <a:t>OPTION 2 - ON-PREMISES GOVERNMENT DEPLOYMENT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Option 2: Maximum Control, Maximum Complexity </a:t>
            </a:r>
            <a:r>
              <a:rPr lang="en-US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</a:t>
            </a:r>
            <a:r>
              <a:rPr lang="en-US" sz="18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Not Viable Before Contract Expiration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8503920" cy="0"/>
          </a:xfrm>
          <a:prstGeom prst="line">
            <a:avLst/>
          </a:prstGeom>
          <a:noFill/>
          <a:ln w="19050">
            <a:solidFill>
              <a:srgbClr val="1B7B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56032" y="1188720"/>
            <a:ext cx="6217920" cy="2194560"/>
          </a:xfrm>
          <a:prstGeom prst="rect">
            <a:avLst/>
          </a:prstGeom>
          <a:solidFill>
            <a:srgbClr val="0A1E12"/>
          </a:solidFill>
          <a:ln w="254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56032" y="1188720"/>
            <a:ext cx="6217920" cy="2377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AAFFCC"/>
                </a:solidFill>
              </a:rPr>
              <a:t>EVERYTHING INSIDE FEDERAL BOUNDARY - AGENCY-OPERATED INFRASTRUCTURE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347472" y="1517904"/>
            <a:ext cx="914400" cy="731520"/>
          </a:xfrm>
          <a:prstGeom prst="rect">
            <a:avLst/>
          </a:prstGeom>
          <a:solidFill>
            <a:srgbClr val="0F2A1A"/>
          </a:solidFill>
          <a:ln w="12700">
            <a:solidFill>
              <a:srgbClr val="2E7D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47472" y="1517904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0F4F8"/>
                </a:solidFill>
              </a:rPr>
              <a:t>GFE DEVICE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1261872" y="1883664"/>
            <a:ext cx="137160" cy="0"/>
          </a:xfrm>
          <a:prstGeom prst="line">
            <a:avLst/>
          </a:prstGeom>
          <a:noFill/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371600" y="1517904"/>
            <a:ext cx="914400" cy="731520"/>
          </a:xfrm>
          <a:prstGeom prst="rect">
            <a:avLst/>
          </a:prstGeom>
          <a:solidFill>
            <a:srgbClr val="0F2A1A"/>
          </a:solidFill>
          <a:ln w="12700">
            <a:solidFill>
              <a:srgbClr val="2E7D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371600" y="1517904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0F4F8"/>
                </a:solidFill>
              </a:rPr>
              <a:t>RECOGNITION ENGINE</a:t>
            </a:r>
            <a:endParaRPr lang="en-US" sz="650" dirty="0"/>
          </a:p>
        </p:txBody>
      </p:sp>
      <p:sp>
        <p:nvSpPr>
          <p:cNvPr id="14" name="Shape 12"/>
          <p:cNvSpPr/>
          <p:nvPr/>
        </p:nvSpPr>
        <p:spPr>
          <a:xfrm>
            <a:off x="2286000" y="1883664"/>
            <a:ext cx="137160" cy="0"/>
          </a:xfrm>
          <a:prstGeom prst="line">
            <a:avLst/>
          </a:prstGeom>
          <a:noFill/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651760" y="1517904"/>
            <a:ext cx="914400" cy="731520"/>
          </a:xfrm>
          <a:prstGeom prst="rect">
            <a:avLst/>
          </a:prstGeom>
          <a:solidFill>
            <a:srgbClr val="0F2A1A"/>
          </a:solidFill>
          <a:ln w="12700">
            <a:solidFill>
              <a:srgbClr val="2E7D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651760" y="1517904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0F4F8"/>
                </a:solidFill>
              </a:rPr>
              <a:t>IMAGE STORE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3566160" y="1883664"/>
            <a:ext cx="137160" cy="0"/>
          </a:xfrm>
          <a:prstGeom prst="line">
            <a:avLst/>
          </a:prstGeom>
          <a:noFill/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931920" y="1517904"/>
            <a:ext cx="914400" cy="731520"/>
          </a:xfrm>
          <a:prstGeom prst="rect">
            <a:avLst/>
          </a:prstGeom>
          <a:solidFill>
            <a:srgbClr val="0F2A1A"/>
          </a:solidFill>
          <a:ln w="12700">
            <a:solidFill>
              <a:srgbClr val="2E7D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931920" y="1517904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0F4F8"/>
                </a:solidFill>
              </a:rPr>
              <a:t>CASE MGMT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4846320" y="1883664"/>
            <a:ext cx="137160" cy="0"/>
          </a:xfrm>
          <a:prstGeom prst="line">
            <a:avLst/>
          </a:prstGeom>
          <a:noFill/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029200" y="1517904"/>
            <a:ext cx="914400" cy="731520"/>
          </a:xfrm>
          <a:prstGeom prst="rect">
            <a:avLst/>
          </a:prstGeom>
          <a:solidFill>
            <a:srgbClr val="0F2A1A"/>
          </a:solidFill>
          <a:ln w="12700">
            <a:solidFill>
              <a:srgbClr val="2E7D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029200" y="1517904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0F4F8"/>
                </a:solidFill>
              </a:rPr>
              <a:t>COMMERCIAL FEED</a:t>
            </a:r>
            <a:endParaRPr lang="en-US" sz="650" dirty="0"/>
          </a:p>
          <a:p>
            <a:pPr marL="0" indent="0" algn="ctr">
              <a:buNone/>
            </a:pPr>
            <a:r>
              <a:rPr lang="en-US" sz="650" b="1" dirty="0">
                <a:solidFill>
                  <a:srgbClr val="F0F4F8"/>
                </a:solidFill>
              </a:rPr>
              <a:t>(API Ingestion)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347472" y="2340864"/>
            <a:ext cx="60350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AAFFCC"/>
                </a:solidFill>
              </a:rPr>
              <a:t>FISMA ATO | Full NIST 800-53 | Agency-Controlled Retention | Legally Defensible Chain of Custody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56032" y="3547872"/>
            <a:ext cx="4133088" cy="27432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56032" y="3547872"/>
            <a:ext cx="4133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STRENGTHS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17720" y="3547872"/>
            <a:ext cx="4133088" cy="274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617720" y="3547872"/>
            <a:ext cx="4133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 CHALLENGES 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56032" y="3822192"/>
            <a:ext cx="4133088" cy="1152144"/>
          </a:xfrm>
          <a:prstGeom prst="rect">
            <a:avLst/>
          </a:prstGeom>
          <a:solidFill>
            <a:srgbClr val="FFFFFF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65760" y="3877056"/>
            <a:ext cx="3913632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data sovereignty inside federal boundary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FISMA compliance via agency-controlled ATO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Eliminates vendor cloud dependency entirely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program independence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617720" y="3822192"/>
            <a:ext cx="4133088" cy="1152144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727448" y="3877056"/>
            <a:ext cx="3913632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procurement + data center build-out required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12-24 month implementation - bridge extension mandatory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LPR dataset access requires separate licensing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 government staffing required for sustainment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56032" y="4901184"/>
            <a:ext cx="8631936" cy="146304"/>
          </a:xfrm>
          <a:prstGeom prst="rect">
            <a:avLst/>
          </a:prstGeom>
          <a:solidFill>
            <a:srgbClr val="1B7BA4"/>
          </a:solidFill>
          <a:ln w="12700">
            <a:solidFill>
              <a:srgbClr val="1B7B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256032" y="4901184"/>
            <a:ext cx="86319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Option 2 is the preferred long-term architecture target but requires a bridge contract and planning horizon of 12-24 months.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20040" y="182880"/>
            <a:ext cx="2377440" cy="219456"/>
          </a:xfrm>
          <a:prstGeom prst="rect">
            <a:avLst/>
          </a:prstGeom>
          <a:solidFill>
            <a:srgbClr val="1A7A4A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18288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AAFFCC"/>
                </a:solidFill>
              </a:rPr>
              <a:t>OPTION 3 - FEDRAMP-AUTHORIZED SAAS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0F4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Option 3: FedRAMP SaaS - Best Near-Term Balance, But Requires Architectural Clarity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8503920" cy="0"/>
          </a:xfrm>
          <a:prstGeom prst="line">
            <a:avLst/>
          </a:prstGeom>
          <a:noFill/>
          <a:ln w="1905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56032" y="1170432"/>
            <a:ext cx="8631936" cy="658368"/>
          </a:xfrm>
          <a:prstGeom prst="rect">
            <a:avLst/>
          </a:prstGeom>
          <a:solidFill>
            <a:srgbClr val="1A0E00"/>
          </a:solidFill>
          <a:ln w="25400">
            <a:solidFill>
              <a:srgbClr val="D483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56032" y="1170432"/>
            <a:ext cx="73152" cy="658368"/>
          </a:xfrm>
          <a:prstGeom prst="rect">
            <a:avLst/>
          </a:prstGeom>
          <a:solidFill>
            <a:srgbClr val="D4830A"/>
          </a:solidFill>
          <a:ln w="12700">
            <a:solidFill>
              <a:srgbClr val="D483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02336" y="1188720"/>
            <a:ext cx="83941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48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ARCHITECTURAL CONSTRAINT:  </a:t>
            </a:r>
            <a:r>
              <a:rPr lang="en-US" sz="9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3 requires that the replacement vendor offer a native FedRAMP High or Moderate authorized SaaS environment. It is </a:t>
            </a:r>
            <a:r>
              <a:rPr lang="en-US" sz="900" b="1" u="sng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r>
              <a:rPr lang="en-US" sz="9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achievable by deploying a commercial application as a virtual machine in a FedRAMP IaaS/PaaS cloud (e.g., AWS GovCloud EC2). That model requires a separate IaaS/PaaS ATO - which the incumbent cannot support under its current SaaS-only authorization model.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56032" y="1938528"/>
            <a:ext cx="8631936" cy="1554480"/>
          </a:xfrm>
          <a:prstGeom prst="rect">
            <a:avLst/>
          </a:prstGeom>
          <a:solidFill>
            <a:srgbClr val="0A1E12"/>
          </a:solidFill>
          <a:ln w="254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56032" y="1938528"/>
            <a:ext cx="8631936" cy="2377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AAFFCC"/>
                </a:solidFill>
              </a:rPr>
              <a:t>INSIDE FEDERAL AUTHORIZATION BOUNDARY - FedRAMP High/Moderate Authorized SaaS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347472" y="2304288"/>
            <a:ext cx="1005840" cy="786384"/>
          </a:xfrm>
          <a:prstGeom prst="rect">
            <a:avLst/>
          </a:prstGeom>
          <a:solidFill>
            <a:srgbClr val="0F2A1A"/>
          </a:solidFill>
          <a:ln w="12700">
            <a:solidFill>
              <a:srgbClr val="2E7D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47472" y="2304288"/>
            <a:ext cx="10058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0F4F8"/>
                </a:solidFill>
              </a:rPr>
              <a:t>GFE DEVICE</a:t>
            </a:r>
            <a:endParaRPr lang="en-US" sz="650" dirty="0"/>
          </a:p>
        </p:txBody>
      </p:sp>
      <p:sp>
        <p:nvSpPr>
          <p:cNvPr id="14" name="Shape 12"/>
          <p:cNvSpPr/>
          <p:nvPr/>
        </p:nvSpPr>
        <p:spPr>
          <a:xfrm>
            <a:off x="1353312" y="2697480"/>
            <a:ext cx="137160" cy="0"/>
          </a:xfrm>
          <a:prstGeom prst="line">
            <a:avLst/>
          </a:prstGeom>
          <a:noFill/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463040" y="2304288"/>
            <a:ext cx="1005840" cy="786384"/>
          </a:xfrm>
          <a:prstGeom prst="rect">
            <a:avLst/>
          </a:prstGeom>
          <a:solidFill>
            <a:srgbClr val="0F2A1A"/>
          </a:solidFill>
          <a:ln w="12700">
            <a:solidFill>
              <a:srgbClr val="2E7D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463040" y="2304288"/>
            <a:ext cx="10058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0F4F8"/>
                </a:solidFill>
              </a:rPr>
              <a:t>FEDRAMP SAAS</a:t>
            </a:r>
            <a:endParaRPr lang="en-US" sz="650" dirty="0"/>
          </a:p>
          <a:p>
            <a:pPr marL="0" indent="0" algn="ctr">
              <a:buNone/>
            </a:pPr>
            <a:r>
              <a:rPr lang="en-US" sz="650" b="1" dirty="0">
                <a:solidFill>
                  <a:srgbClr val="F0F4F8"/>
                </a:solidFill>
              </a:rPr>
              <a:t>RECOG ENGINE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2468880" y="2697480"/>
            <a:ext cx="274320" cy="0"/>
          </a:xfrm>
          <a:prstGeom prst="line">
            <a:avLst/>
          </a:prstGeom>
          <a:noFill/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743200" y="2304288"/>
            <a:ext cx="1005840" cy="786384"/>
          </a:xfrm>
          <a:prstGeom prst="rect">
            <a:avLst/>
          </a:prstGeom>
          <a:solidFill>
            <a:srgbClr val="0F2A1A"/>
          </a:solidFill>
          <a:ln w="12700">
            <a:solidFill>
              <a:srgbClr val="2E7D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743200" y="2304288"/>
            <a:ext cx="10058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0F4F8"/>
                </a:solidFill>
              </a:rPr>
              <a:t>PLATE IMAGES</a:t>
            </a:r>
            <a:endParaRPr lang="en-US" sz="650" dirty="0"/>
          </a:p>
          <a:p>
            <a:pPr marL="0" indent="0" algn="ctr">
              <a:buNone/>
            </a:pPr>
            <a:r>
              <a:rPr lang="en-US" sz="650" b="1" dirty="0">
                <a:solidFill>
                  <a:srgbClr val="F0F4F8"/>
                </a:solidFill>
              </a:rPr>
              <a:t>(Fed Storage)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3749040" y="2697480"/>
            <a:ext cx="274320" cy="0"/>
          </a:xfrm>
          <a:prstGeom prst="line">
            <a:avLst/>
          </a:prstGeom>
          <a:noFill/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023360" y="2304288"/>
            <a:ext cx="1005840" cy="786384"/>
          </a:xfrm>
          <a:prstGeom prst="rect">
            <a:avLst/>
          </a:prstGeom>
          <a:solidFill>
            <a:srgbClr val="0F2A1A"/>
          </a:solidFill>
          <a:ln w="12700">
            <a:solidFill>
              <a:srgbClr val="2E7D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023360" y="2304288"/>
            <a:ext cx="10058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0F4F8"/>
                </a:solidFill>
              </a:rPr>
              <a:t>INVESTIGATIVE</a:t>
            </a:r>
            <a:endParaRPr lang="en-US" sz="650" dirty="0"/>
          </a:p>
          <a:p>
            <a:pPr marL="0" indent="0" algn="ctr">
              <a:buNone/>
            </a:pPr>
            <a:r>
              <a:rPr lang="en-US" sz="650" b="1" dirty="0">
                <a:solidFill>
                  <a:srgbClr val="F0F4F8"/>
                </a:solidFill>
              </a:rPr>
              <a:t>PORTAL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5029200" y="2697480"/>
            <a:ext cx="182880" cy="0"/>
          </a:xfrm>
          <a:prstGeom prst="line">
            <a:avLst/>
          </a:prstGeom>
          <a:noFill/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212080" y="2304288"/>
            <a:ext cx="1005840" cy="786384"/>
          </a:xfrm>
          <a:prstGeom prst="rect">
            <a:avLst/>
          </a:prstGeom>
          <a:solidFill>
            <a:srgbClr val="0F2A1A"/>
          </a:solidFill>
          <a:ln w="12700">
            <a:solidFill>
              <a:srgbClr val="2E7D52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6492240" y="2212848"/>
            <a:ext cx="2011680" cy="987552"/>
          </a:xfrm>
          <a:prstGeom prst="rect">
            <a:avLst/>
          </a:prstGeom>
          <a:solidFill>
            <a:srgbClr val="1A1A0A"/>
          </a:solidFill>
          <a:ln w="12700">
            <a:solidFill>
              <a:srgbClr val="6B6B0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492240" y="2212848"/>
            <a:ext cx="201168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AA"/>
                </a:solidFill>
              </a:rPr>
              <a:t>COMMERCIAL ALPR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AA"/>
                </a:solidFill>
              </a:rPr>
              <a:t>DATA (External)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AA"/>
                </a:solidFill>
              </a:rPr>
              <a:t>API Query Only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47472" y="3172968"/>
            <a:ext cx="8449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AAFFCC"/>
                </a:solidFill>
              </a:rPr>
              <a:t>NIST 800-53 inherited | FedRAMP ATO | FISMA compliant | Agency-controlled records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56032" y="3621024"/>
            <a:ext cx="4133088" cy="256032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56032" y="3621024"/>
            <a:ext cx="4133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ADVANTAGES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17720" y="3621024"/>
            <a:ext cx="4133088" cy="2560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617720" y="3621024"/>
            <a:ext cx="4133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RISKS / CONSTRAINTS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56032" y="3877056"/>
            <a:ext cx="4133088" cy="1097280"/>
          </a:xfrm>
          <a:prstGeom prst="rect">
            <a:avLst/>
          </a:prstGeom>
          <a:solidFill>
            <a:srgbClr val="122347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65760" y="3931920"/>
            <a:ext cx="391363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800-53 control inheritance via FedRAMP CSP</a:t>
            </a:r>
            <a:endParaRPr lang="en-US" sz="8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custody moves inside federal boundary</a:t>
            </a:r>
            <a:endParaRPr lang="en-US" sz="8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6-12 month transition - less disruptive than on-prem</a:t>
            </a:r>
            <a:endParaRPr lang="en-US" sz="8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solicitation can specify FedRAMP requirement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617720" y="3877056"/>
            <a:ext cx="4133088" cy="1097280"/>
          </a:xfrm>
          <a:prstGeom prst="rect">
            <a:avLst/>
          </a:prstGeom>
          <a:solidFill>
            <a:srgbClr val="122347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727448" y="3931920"/>
            <a:ext cx="391363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Incumbent does not currently offer a FedRAMP SaaS option</a:t>
            </a:r>
            <a:endParaRPr lang="en-US" sz="8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a new competitive award - not a sole-source renewal</a:t>
            </a:r>
            <a:endParaRPr lang="en-US" sz="8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ALPR dataset access terms must be renegotiated</a:t>
            </a:r>
            <a:endParaRPr lang="en-US" sz="8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Temporary ATO required during bridge period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256032" y="4901184"/>
            <a:ext cx="8631936" cy="146304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256032" y="4901184"/>
            <a:ext cx="86319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Option 3 is the architecturally preferred near-term path - contingent on competitive award to a FedRAMP-authorized vendor.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212080" y="2304288"/>
            <a:ext cx="10058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0F4F8"/>
                </a:solidFill>
              </a:rPr>
              <a:t>CASE MGMT</a:t>
            </a:r>
            <a:endParaRPr lang="en-US" sz="650" dirty="0"/>
          </a:p>
        </p:txBody>
      </p:sp>
      <p:sp>
        <p:nvSpPr>
          <p:cNvPr id="40" name="Shape 26">
            <a:extLst>
              <a:ext uri="{FF2B5EF4-FFF2-40B4-BE49-F238E27FC236}">
                <a16:creationId xmlns:a16="http://schemas.microsoft.com/office/drawing/2014/main" id="{4E28D647-E904-4086-A5A7-93F417DA3D56}"/>
              </a:ext>
            </a:extLst>
          </p:cNvPr>
          <p:cNvSpPr/>
          <p:nvPr/>
        </p:nvSpPr>
        <p:spPr>
          <a:xfrm>
            <a:off x="6217920" y="2697480"/>
            <a:ext cx="274320" cy="0"/>
          </a:xfrm>
          <a:prstGeom prst="line">
            <a:avLst/>
          </a:prstGeom>
          <a:noFill/>
          <a:ln w="12700">
            <a:solidFill>
              <a:srgbClr val="6B6B00"/>
            </a:solidFill>
            <a:prstDash val="dash"/>
          </a:ln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7BA4"/>
          </a:solidFill>
          <a:ln w="12700">
            <a:solidFill>
              <a:srgbClr val="1B7B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20040" y="182880"/>
            <a:ext cx="2377440" cy="21945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18288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B8D4E8"/>
                </a:solidFill>
              </a:rPr>
              <a:t>CHAPTER 3 OF 5 - COMPARATIVE ANALYSIS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Option 3 Leads on Compliance and Feasibility - Option 2 Is the Long-Term Target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8503920" cy="0"/>
          </a:xfrm>
          <a:prstGeom prst="line">
            <a:avLst/>
          </a:prstGeom>
          <a:noFill/>
          <a:ln w="19050">
            <a:solidFill>
              <a:srgbClr val="1B7B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6032" y="1207008"/>
          <a:ext cx="8631936" cy="3127248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568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 DIMENSION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 1 - VENDOR CLOUD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 2 - ON-PREMISES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 3 - FEDRAMP SAAS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FISMA / ATO Compliance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  Non-compliant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A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FISMA (full)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A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FedRAMP inheritance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Inside Federal Boundary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  Vendor cloud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A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Agency infra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A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FedRAMP boundary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Records Retention Control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D483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  Vendor terms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A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Full agency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A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Agency policy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Privacy / Civil Liberties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  PIA/SORN gap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A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Within ATO scope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A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Within ATO scope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to Operational Readiness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A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Immediate (bridge)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  12-24 months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D483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  6-12 months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Implementation Complexity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A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Low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  Very high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D483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  Moderate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Acquisition Vehicle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  Sole source - no J&amp;A justification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A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Competitive award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A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Competitive award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Long-Term Sustainability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  Low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A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High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A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High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256032" y="4608576"/>
            <a:ext cx="8631936" cy="38404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256032" y="4608576"/>
            <a:ext cx="8631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8D4E8"/>
                </a:solidFill>
              </a:rPr>
              <a:t>Option 3 resolves compliance gaps within an achievable timeline. Option 2 is the correct long-term architecture - plan it as a follow-on program objective.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7BA4"/>
          </a:solidFill>
          <a:ln w="12700">
            <a:solidFill>
              <a:srgbClr val="1B7B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20040" y="182880"/>
            <a:ext cx="2377440" cy="21945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18288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B8D4E8"/>
                </a:solidFill>
              </a:rPr>
              <a:t>CHAPTER 4 OF 5 - OPERATIONAL IMPACT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0F4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 Replacement Options Carry a Transition Period - Options 2 and 3 Require Competitive Award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8503920" cy="0"/>
          </a:xfrm>
          <a:prstGeom prst="line">
            <a:avLst/>
          </a:prstGeom>
          <a:noFill/>
          <a:ln w="19050">
            <a:solidFill>
              <a:srgbClr val="1B7B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56032" y="1243584"/>
            <a:ext cx="2761488" cy="3675888"/>
          </a:xfrm>
          <a:prstGeom prst="rect">
            <a:avLst/>
          </a:prstGeom>
          <a:solidFill>
            <a:srgbClr val="122347"/>
          </a:solidFill>
          <a:ln w="1905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56032" y="1243584"/>
            <a:ext cx="2761488" cy="40233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9184" y="1243584"/>
            <a:ext cx="26151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1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QUO + -8 BRIDGE 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65760" y="1719072"/>
            <a:ext cx="2542032" cy="3090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workflow change - investigators retain full mobile and query capability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 risk persists and compounds throughout bridge period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 -8 extension buys 6 months max; competitive solicitation must run in parallel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Temporary ATO required for bridge period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Evidentiary chain-of-custody risk continues in commercial cloud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00400" y="1243584"/>
            <a:ext cx="2761488" cy="3675888"/>
          </a:xfrm>
          <a:prstGeom prst="rect">
            <a:avLst/>
          </a:prstGeom>
          <a:solidFill>
            <a:srgbClr val="122347"/>
          </a:solidFill>
          <a:ln w="19050">
            <a:solidFill>
              <a:srgbClr val="F39C1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00400" y="1243584"/>
            <a:ext cx="2761488" cy="402336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73552" y="1243584"/>
            <a:ext cx="26151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2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ON-PREMISES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310128" y="1719072"/>
            <a:ext cx="2542032" cy="3090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12-24 month build-out causes extended break in mobile scanning capability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training and workflow changes required across all investigative units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data feed integration must be renegotiated under separate license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Temporary ATO required for bridge period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Post-deployment: maximum legal defensibility and data sovereignty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144768" y="1243584"/>
            <a:ext cx="2761488" cy="3675888"/>
          </a:xfrm>
          <a:prstGeom prst="rect">
            <a:avLst/>
          </a:prstGeom>
          <a:solidFill>
            <a:srgbClr val="122347"/>
          </a:solidFill>
          <a:ln w="19050">
            <a:solidFill>
              <a:srgbClr val="2ECC71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144768" y="1243584"/>
            <a:ext cx="2761488" cy="402336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217920" y="1243584"/>
            <a:ext cx="26151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3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FEDRAMP SAAS (PREFERRED)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254496" y="1719072"/>
            <a:ext cx="2542032" cy="3090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6 -12 month transition via competitive award to FedRAMP-authorized vendor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 and workflows largely preserved post-migration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Temporary ATO required for bridge period until new award ATO is finalized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Investigators gain compliant chain-of-custody with minimal retraining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solicitation must specify FedRAMP High/Moderate SaaS requirement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56032" y="4901184"/>
            <a:ext cx="8631936" cy="14630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56032" y="4901184"/>
            <a:ext cx="86319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B8D4E8"/>
                </a:solidFill>
              </a:rPr>
              <a:t>Regardless of option selected, competitive solicitation must begin immediately. The -8 extension is a bridge, not a permanent solution.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7BA4"/>
          </a:solidFill>
          <a:ln w="12700">
            <a:solidFill>
              <a:srgbClr val="1B7B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20040" y="182880"/>
            <a:ext cx="2377440" cy="21945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18288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B8D4E8"/>
                </a:solidFill>
              </a:rPr>
              <a:t>CHAPTER 4 OF 5 - STRATEGIC CONSIDERATIONS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Decisions Now Determine Compliance Exposure and Program Sustainability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8503920" cy="0"/>
          </a:xfrm>
          <a:prstGeom prst="line">
            <a:avLst/>
          </a:prstGeom>
          <a:noFill/>
          <a:ln w="19050">
            <a:solidFill>
              <a:srgbClr val="1B7B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56032" y="1170432"/>
            <a:ext cx="2761488" cy="1078992"/>
          </a:xfrm>
          <a:prstGeom prst="rect">
            <a:avLst/>
          </a:prstGeom>
          <a:solidFill>
            <a:srgbClr val="122347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9184" y="1188720"/>
            <a:ext cx="26151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B7B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$22.8M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65760" y="1773936"/>
            <a:ext cx="25420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contract investment in a platform with unresolved compliance posture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200400" y="1170432"/>
            <a:ext cx="2761488" cy="1078992"/>
          </a:xfrm>
          <a:prstGeom prst="rect">
            <a:avLst/>
          </a:prstGeom>
          <a:solidFill>
            <a:srgbClr val="122347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73552" y="1188720"/>
            <a:ext cx="26151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B7B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$2.4M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310128" y="1773936"/>
            <a:ext cx="25420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bridge cost (6 mo. × $405K) under FAR -8 extension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44768" y="1170432"/>
            <a:ext cx="2761488" cy="1078992"/>
          </a:xfrm>
          <a:prstGeom prst="rect">
            <a:avLst/>
          </a:prstGeom>
          <a:solidFill>
            <a:srgbClr val="122347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217920" y="1188720"/>
            <a:ext cx="26151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B7B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Months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254496" y="1773936"/>
            <a:ext cx="25420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extension window - competitive award must run concurrently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56032" y="2359152"/>
            <a:ext cx="8631936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56032" y="2359152"/>
            <a:ext cx="73152" cy="786384"/>
          </a:xfrm>
          <a:prstGeom prst="rect">
            <a:avLst/>
          </a:prstGeom>
          <a:solidFill>
            <a:srgbClr val="1B7BA4"/>
          </a:solidFill>
          <a:ln w="12700">
            <a:solidFill>
              <a:srgbClr val="1B7B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02336" y="2414016"/>
            <a:ext cx="21945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OWNERSHIP</a:t>
            </a:r>
            <a:endParaRPr lang="en-US" sz="850" dirty="0"/>
          </a:p>
          <a:p>
            <a:pPr marL="0" indent="0">
              <a:buNone/>
            </a:pPr>
            <a:r>
              <a:rPr lang="en-US" sz="8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RECORDS CUSTODY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633472" y="2450592"/>
            <a:ext cx="0" cy="603504"/>
          </a:xfrm>
          <a:prstGeom prst="line">
            <a:avLst/>
          </a:prstGeom>
          <a:noFill/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743200" y="2414016"/>
            <a:ext cx="6071616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 imagery captured by GFE devices during federal investigations constitutes agency records under federal law. Storage outside the federal boundary creates unresolved discoverability, disposition, and litigation-hold obligations that cannot be resolved through policy controls alone.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56032" y="3218688"/>
            <a:ext cx="8631936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56032" y="3218688"/>
            <a:ext cx="73152" cy="786384"/>
          </a:xfrm>
          <a:prstGeom prst="rect">
            <a:avLst/>
          </a:prstGeom>
          <a:solidFill>
            <a:srgbClr val="1B7BA4"/>
          </a:solidFill>
          <a:ln w="12700">
            <a:solidFill>
              <a:srgbClr val="1B7B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02336" y="3273552"/>
            <a:ext cx="21945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CONCENTRATION</a:t>
            </a:r>
            <a:endParaRPr lang="en-US" sz="850" dirty="0"/>
          </a:p>
          <a:p>
            <a:pPr marL="0" indent="0">
              <a:buNone/>
            </a:pPr>
            <a:r>
              <a:rPr lang="en-US" sz="8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COMPETITIVE RISK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633472" y="3310128"/>
            <a:ext cx="0" cy="603504"/>
          </a:xfrm>
          <a:prstGeom prst="line">
            <a:avLst/>
          </a:prstGeom>
          <a:noFill/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743200" y="3273552"/>
            <a:ext cx="6071616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incumbent controls both the ALPR dataset and the hosting infrastructure. Competitive re-procurement requires sufficient runway - the FAR “-8” extension provides up to six months to structure a compliant competitive solicitation. Absent a viable J&amp;A, sole-source continuation is not available.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56032" y="4078224"/>
            <a:ext cx="8631936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256032" y="4078224"/>
            <a:ext cx="73152" cy="786384"/>
          </a:xfrm>
          <a:prstGeom prst="rect">
            <a:avLst/>
          </a:prstGeom>
          <a:solidFill>
            <a:srgbClr val="1B7BA4"/>
          </a:solidFill>
          <a:ln w="12700">
            <a:solidFill>
              <a:srgbClr val="1B7B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02336" y="4133088"/>
            <a:ext cx="21945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PROGRAM</a:t>
            </a:r>
            <a:endParaRPr lang="en-US" sz="850" dirty="0"/>
          </a:p>
          <a:p>
            <a:pPr marL="0" indent="0">
              <a:buNone/>
            </a:pPr>
            <a:r>
              <a:rPr lang="en-US" sz="8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633472" y="4169664"/>
            <a:ext cx="0" cy="603504"/>
          </a:xfrm>
          <a:prstGeom prst="line">
            <a:avLst/>
          </a:prstGeom>
          <a:noFill/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743200" y="4133088"/>
            <a:ext cx="6071616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Near-term decisions must preserve a migration path to Option 2 (on-premises). FedRAMP SaaS (Option 3) avoids new vendor lock-in only if data portability and ownership clauses are written into the replacement contract. Architecture choices made now compound over a 5-year program horizon.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56032" y="4901184"/>
            <a:ext cx="8631936" cy="146304"/>
          </a:xfrm>
          <a:prstGeom prst="rect">
            <a:avLst/>
          </a:prstGeom>
          <a:solidFill>
            <a:srgbClr val="1B7BA4"/>
          </a:solidFill>
          <a:ln w="12700">
            <a:solidFill>
              <a:srgbClr val="1B7B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256032" y="4901184"/>
            <a:ext cx="86319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Leadership decisions on architecture today determine whether future contracts can be competed, compliance obligations met, and investigative data protected.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7BA4"/>
          </a:solidFill>
          <a:ln w="12700">
            <a:solidFill>
              <a:srgbClr val="1B7B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20040" y="182880"/>
            <a:ext cx="2377440" cy="21945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18288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B8D4E8"/>
                </a:solidFill>
              </a:rPr>
              <a:t>CHAPTER 5 OF 5 - DECISION FRAMEWORK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503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0F4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Decision Framework and Recommended Path Forward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1024128"/>
            <a:ext cx="8503920" cy="0"/>
          </a:xfrm>
          <a:prstGeom prst="line">
            <a:avLst/>
          </a:prstGeom>
          <a:noFill/>
          <a:ln w="19050">
            <a:solidFill>
              <a:srgbClr val="1B7B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56032" y="1097280"/>
            <a:ext cx="384048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56032" y="10972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LEADERSHIP EVALUATION CRITERIA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56032" y="1371600"/>
            <a:ext cx="3840480" cy="822960"/>
          </a:xfrm>
          <a:prstGeom prst="rect">
            <a:avLst/>
          </a:prstGeom>
          <a:solidFill>
            <a:srgbClr val="122347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56032" y="1371600"/>
            <a:ext cx="256032" cy="822960"/>
          </a:xfrm>
          <a:prstGeom prst="rect">
            <a:avLst/>
          </a:prstGeom>
          <a:solidFill>
            <a:srgbClr val="1B7BA4"/>
          </a:solidFill>
          <a:ln w="12700">
            <a:solidFill>
              <a:srgbClr val="1B7B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56032" y="1371600"/>
            <a:ext cx="256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85216" y="1426464"/>
            <a:ext cx="34015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POSTURE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85216" y="1664208"/>
            <a:ext cx="340156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option achieve FISMA ATO and FedRAMP authorization within an acceptable timeline? Are data sovereignty and records retention obligations satisfied?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256032" y="2267712"/>
            <a:ext cx="3840480" cy="822960"/>
          </a:xfrm>
          <a:prstGeom prst="rect">
            <a:avLst/>
          </a:prstGeom>
          <a:solidFill>
            <a:srgbClr val="122347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56032" y="2267712"/>
            <a:ext cx="256032" cy="822960"/>
          </a:xfrm>
          <a:prstGeom prst="rect">
            <a:avLst/>
          </a:prstGeom>
          <a:solidFill>
            <a:srgbClr val="1B7BA4"/>
          </a:solidFill>
          <a:ln w="12700">
            <a:solidFill>
              <a:srgbClr val="1B7B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56032" y="2267712"/>
            <a:ext cx="256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85216" y="2322576"/>
            <a:ext cx="34015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CONTINUITY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85216" y="2560320"/>
            <a:ext cx="340156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transition plan ensure investigative operations are uninterrupted? Is there a contingency for a break-in-service scenario?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256032" y="3163824"/>
            <a:ext cx="3840480" cy="822960"/>
          </a:xfrm>
          <a:prstGeom prst="rect">
            <a:avLst/>
          </a:prstGeom>
          <a:solidFill>
            <a:srgbClr val="122347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56032" y="3163824"/>
            <a:ext cx="256032" cy="822960"/>
          </a:xfrm>
          <a:prstGeom prst="rect">
            <a:avLst/>
          </a:prstGeom>
          <a:solidFill>
            <a:srgbClr val="1B7BA4"/>
          </a:solidFill>
          <a:ln w="12700">
            <a:solidFill>
              <a:srgbClr val="1B7B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56032" y="3163824"/>
            <a:ext cx="256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85216" y="3218688"/>
            <a:ext cx="34015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 STRATEGY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85216" y="3456432"/>
            <a:ext cx="340156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competitive acquisition preserved? Is there a valid J&amp;A for sole-source - if not, a competitive award is required regardless of extension.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256032" y="4059936"/>
            <a:ext cx="3840480" cy="822960"/>
          </a:xfrm>
          <a:prstGeom prst="rect">
            <a:avLst/>
          </a:prstGeom>
          <a:solidFill>
            <a:srgbClr val="122347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256032" y="4059936"/>
            <a:ext cx="256032" cy="822960"/>
          </a:xfrm>
          <a:prstGeom prst="rect">
            <a:avLst/>
          </a:prstGeom>
          <a:solidFill>
            <a:srgbClr val="1B7BA4"/>
          </a:solidFill>
          <a:ln w="12700">
            <a:solidFill>
              <a:srgbClr val="1B7B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56032" y="4059936"/>
            <a:ext cx="256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85216" y="4114800"/>
            <a:ext cx="34015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ALIGNMENT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85216" y="4352544"/>
            <a:ext cx="340156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near-term decision preserve a viable path to Option 2? Avoid choices that entrench non-compliant architecture for 5+ years.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4315968" y="1097280"/>
            <a:ext cx="4572000" cy="274320"/>
          </a:xfrm>
          <a:prstGeom prst="rect">
            <a:avLst/>
          </a:prstGeom>
          <a:solidFill>
            <a:srgbClr val="1B7BA4"/>
          </a:solidFill>
          <a:ln w="12700">
            <a:solidFill>
              <a:srgbClr val="1B7B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315968" y="1097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RECOMMENDED PATH FORWARD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315968" y="1371600"/>
            <a:ext cx="4572000" cy="822960"/>
          </a:xfrm>
          <a:prstGeom prst="rect">
            <a:avLst/>
          </a:prstGeom>
          <a:solidFill>
            <a:srgbClr val="122347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315968" y="1371600"/>
            <a:ext cx="54864" cy="8229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407408" y="1426464"/>
            <a:ext cx="1005840" cy="2011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407408" y="142646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000000"/>
                </a:solidFill>
              </a:rPr>
              <a:t>NOW - 60 DAYS</a:t>
            </a:r>
            <a:endParaRPr lang="en-US" sz="650" dirty="0"/>
          </a:p>
        </p:txBody>
      </p:sp>
      <p:sp>
        <p:nvSpPr>
          <p:cNvPr id="35" name="Text 33"/>
          <p:cNvSpPr/>
          <p:nvPr/>
        </p:nvSpPr>
        <p:spPr>
          <a:xfrm>
            <a:off x="5504688" y="1426464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407408" y="1682496"/>
            <a:ext cx="4352544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407408" y="1737360"/>
            <a:ext cx="4352544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Invoke FAR 52.217-8 extension clause (max 6 months at ~$405K/month). Initiate temporary ATO for bridge period. Begin PIA update assessment and ATO gap analysis on current architecture.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4315968" y="2267712"/>
            <a:ext cx="4572000" cy="822960"/>
          </a:xfrm>
          <a:prstGeom prst="rect">
            <a:avLst/>
          </a:prstGeom>
          <a:solidFill>
            <a:srgbClr val="122347"/>
          </a:solidFill>
          <a:ln w="12700">
            <a:solidFill>
              <a:srgbClr val="D483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4315968" y="2267712"/>
            <a:ext cx="54864" cy="822960"/>
          </a:xfrm>
          <a:prstGeom prst="rect">
            <a:avLst/>
          </a:prstGeom>
          <a:solidFill>
            <a:srgbClr val="D4830A"/>
          </a:solidFill>
          <a:ln w="12700">
            <a:solidFill>
              <a:srgbClr val="D483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4407408" y="2322576"/>
            <a:ext cx="1005840" cy="201168"/>
          </a:xfrm>
          <a:prstGeom prst="rect">
            <a:avLst/>
          </a:prstGeom>
          <a:solidFill>
            <a:srgbClr val="D4830A"/>
          </a:solidFill>
          <a:ln w="12700">
            <a:solidFill>
              <a:srgbClr val="D483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407408" y="232257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000000"/>
                </a:solidFill>
              </a:rPr>
              <a:t>60 - 120 DAYS</a:t>
            </a:r>
            <a:endParaRPr lang="en-US" sz="650" dirty="0"/>
          </a:p>
        </p:txBody>
      </p:sp>
      <p:sp>
        <p:nvSpPr>
          <p:cNvPr id="42" name="Text 40"/>
          <p:cNvSpPr/>
          <p:nvPr/>
        </p:nvSpPr>
        <p:spPr>
          <a:xfrm>
            <a:off x="5504688" y="2322576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Near-Term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4407408" y="2578608"/>
            <a:ext cx="4352544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407408" y="2633472"/>
            <a:ext cx="4352544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competitive solicitation specifying FedRAMP High/Moderate SaaS as a mandatory requirement. Complete market research. Draft PWS with data ownership, portability, and records management clauses.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4315968" y="3163824"/>
            <a:ext cx="4572000" cy="822960"/>
          </a:xfrm>
          <a:prstGeom prst="rect">
            <a:avLst/>
          </a:prstGeom>
          <a:solidFill>
            <a:srgbClr val="122347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4315968" y="3163824"/>
            <a:ext cx="54864" cy="82296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4407408" y="3218688"/>
            <a:ext cx="1005840" cy="201168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4407408" y="321868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000000"/>
                </a:solidFill>
              </a:rPr>
              <a:t>4 - 9 MONTHS</a:t>
            </a:r>
            <a:endParaRPr lang="en-US" sz="650" dirty="0"/>
          </a:p>
        </p:txBody>
      </p:sp>
      <p:sp>
        <p:nvSpPr>
          <p:cNvPr id="49" name="Text 47"/>
          <p:cNvSpPr/>
          <p:nvPr/>
        </p:nvSpPr>
        <p:spPr>
          <a:xfrm>
            <a:off x="5504688" y="321868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Mid-Term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4407408" y="3474720"/>
            <a:ext cx="4352544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4407408" y="3529584"/>
            <a:ext cx="4352544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proposals. Award competitive contract. Vendor must demonstrate FedRAMP-authorized native SaaS offering - not a VM deployment on IaaS/PaaS. Migrate data and initiate new ATO.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4315968" y="4059936"/>
            <a:ext cx="4572000" cy="822960"/>
          </a:xfrm>
          <a:prstGeom prst="rect">
            <a:avLst/>
          </a:prstGeom>
          <a:solidFill>
            <a:srgbClr val="122347"/>
          </a:solidFill>
          <a:ln w="12700">
            <a:solidFill>
              <a:srgbClr val="1B7B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4315968" y="4059936"/>
            <a:ext cx="54864" cy="822960"/>
          </a:xfrm>
          <a:prstGeom prst="rect">
            <a:avLst/>
          </a:prstGeom>
          <a:solidFill>
            <a:srgbClr val="1B7BA4"/>
          </a:solidFill>
          <a:ln w="12700">
            <a:solidFill>
              <a:srgbClr val="1B7B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4407408" y="4114800"/>
            <a:ext cx="1005840" cy="201168"/>
          </a:xfrm>
          <a:prstGeom prst="rect">
            <a:avLst/>
          </a:prstGeom>
          <a:solidFill>
            <a:srgbClr val="1B7BA4"/>
          </a:solidFill>
          <a:ln w="12700">
            <a:solidFill>
              <a:srgbClr val="1B7B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4407408" y="411480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000000"/>
                </a:solidFill>
              </a:rPr>
              <a:t>POST-AWARD</a:t>
            </a:r>
            <a:endParaRPr lang="en-US" sz="650" dirty="0"/>
          </a:p>
        </p:txBody>
      </p:sp>
      <p:sp>
        <p:nvSpPr>
          <p:cNvPr id="56" name="Text 54"/>
          <p:cNvSpPr/>
          <p:nvPr/>
        </p:nvSpPr>
        <p:spPr>
          <a:xfrm>
            <a:off x="5504688" y="411480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4407408" y="4370832"/>
            <a:ext cx="4352544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4407408" y="4425696"/>
            <a:ext cx="4352544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phased transition. Validate ATO. Decommission commercial cloud data stores. Initiate planning for Option 2 (on-premises) as long-term program architecture target.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256032" y="4663440"/>
            <a:ext cx="8631936" cy="347472"/>
          </a:xfrm>
          <a:prstGeom prst="rect">
            <a:avLst/>
          </a:prstGeom>
          <a:solidFill>
            <a:srgbClr val="0A2A1A"/>
          </a:solidFill>
          <a:ln w="1905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347472" y="4681728"/>
            <a:ext cx="844905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PATH:  </a:t>
            </a:r>
            <a:r>
              <a:rPr lang="en-US" sz="85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3 (FedRAMP SaaS) via competitive award, bridged under </a:t>
            </a:r>
            <a:r>
              <a:rPr lang="en-US" sz="85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 “-8” extension</a:t>
            </a:r>
            <a:r>
              <a:rPr lang="en-US" sz="85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Preserves mission capability while resolving compliance gaps. Competitive solicitation must begin immediately - the extension provides preparation time, not a substitute for competition.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2514</Words>
  <Application>Microsoft Macintosh PowerPoint</Application>
  <PresentationFormat>On-screen Show (16:9)</PresentationFormat>
  <Paragraphs>344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ALPR Solutions Analysis</dc:title>
  <dc:subject>PptxGenJS Presentation</dc:subject>
  <dc:creator>Tamar Knighton</dc:creator>
  <cp:lastModifiedBy>Tamar K</cp:lastModifiedBy>
  <cp:revision>2</cp:revision>
  <dcterms:created xsi:type="dcterms:W3CDTF">2026-03-05T17:08:33Z</dcterms:created>
  <dcterms:modified xsi:type="dcterms:W3CDTF">2026-03-05T17:57:28Z</dcterms:modified>
</cp:coreProperties>
</file>